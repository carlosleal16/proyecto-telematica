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ADF4BC-C730-42CE-BA06-8240D0D73513}" v="2" dt="2026-05-19T05:41:46.4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mauricio leal medina" userId="850e3810d6ab68aa" providerId="LiveId" clId="{1F9B23B8-4677-4562-9E1C-314BC3486558}"/>
    <pc:docChg chg="undo custSel modSld">
      <pc:chgData name="carlos mauricio leal medina" userId="850e3810d6ab68aa" providerId="LiveId" clId="{1F9B23B8-4677-4562-9E1C-314BC3486558}" dt="2026-05-19T05:43:21.929" v="81" actId="1076"/>
      <pc:docMkLst>
        <pc:docMk/>
      </pc:docMkLst>
      <pc:sldChg chg="addSp delSp modSp mod">
        <pc:chgData name="carlos mauricio leal medina" userId="850e3810d6ab68aa" providerId="LiveId" clId="{1F9B23B8-4677-4562-9E1C-314BC3486558}" dt="2026-05-19T05:37:37.571" v="35" actId="478"/>
        <pc:sldMkLst>
          <pc:docMk/>
          <pc:sldMk cId="0" sldId="258"/>
        </pc:sldMkLst>
        <pc:spChg chg="mod">
          <ac:chgData name="carlos mauricio leal medina" userId="850e3810d6ab68aa" providerId="LiveId" clId="{1F9B23B8-4677-4562-9E1C-314BC3486558}" dt="2026-05-19T05:32:58.352" v="5" actId="1076"/>
          <ac:spMkLst>
            <pc:docMk/>
            <pc:sldMk cId="0" sldId="258"/>
            <ac:spMk id="3" creationId="{00000000-0000-0000-0000-000000000000}"/>
          </ac:spMkLst>
        </pc:spChg>
        <pc:spChg chg="mod">
          <ac:chgData name="carlos mauricio leal medina" userId="850e3810d6ab68aa" providerId="LiveId" clId="{1F9B23B8-4677-4562-9E1C-314BC3486558}" dt="2026-05-19T05:33:04.522" v="6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carlos mauricio leal medina" userId="850e3810d6ab68aa" providerId="LiveId" clId="{1F9B23B8-4677-4562-9E1C-314BC3486558}" dt="2026-05-19T05:32:55.617" v="4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carlos mauricio leal medina" userId="850e3810d6ab68aa" providerId="LiveId" clId="{1F9B23B8-4677-4562-9E1C-314BC3486558}" dt="2026-05-19T05:36:24.815" v="19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carlos mauricio leal medina" userId="850e3810d6ab68aa" providerId="LiveId" clId="{1F9B23B8-4677-4562-9E1C-314BC3486558}" dt="2026-05-19T05:36:24.815" v="19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carlos mauricio leal medina" userId="850e3810d6ab68aa" providerId="LiveId" clId="{1F9B23B8-4677-4562-9E1C-314BC3486558}" dt="2026-05-19T05:36:24.815" v="19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carlos mauricio leal medina" userId="850e3810d6ab68aa" providerId="LiveId" clId="{1F9B23B8-4677-4562-9E1C-314BC3486558}" dt="2026-05-19T05:36:24.815" v="19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carlos mauricio leal medina" userId="850e3810d6ab68aa" providerId="LiveId" clId="{1F9B23B8-4677-4562-9E1C-314BC3486558}" dt="2026-05-19T05:36:24.815" v="19" actId="1076"/>
          <ac:spMkLst>
            <pc:docMk/>
            <pc:sldMk cId="0" sldId="258"/>
            <ac:spMk id="13" creationId="{00000000-0000-0000-0000-000000000000}"/>
          </ac:spMkLst>
        </pc:spChg>
        <pc:spChg chg="add del">
          <ac:chgData name="carlos mauricio leal medina" userId="850e3810d6ab68aa" providerId="LiveId" clId="{1F9B23B8-4677-4562-9E1C-314BC3486558}" dt="2026-05-19T05:37:28.307" v="33" actId="478"/>
          <ac:spMkLst>
            <pc:docMk/>
            <pc:sldMk cId="0" sldId="258"/>
            <ac:spMk id="17" creationId="{00000000-0000-0000-0000-000000000000}"/>
          </ac:spMkLst>
        </pc:spChg>
        <pc:spChg chg="del">
          <ac:chgData name="carlos mauricio leal medina" userId="850e3810d6ab68aa" providerId="LiveId" clId="{1F9B23B8-4677-4562-9E1C-314BC3486558}" dt="2026-05-19T05:37:33.539" v="34" actId="478"/>
          <ac:spMkLst>
            <pc:docMk/>
            <pc:sldMk cId="0" sldId="258"/>
            <ac:spMk id="18" creationId="{00000000-0000-0000-0000-000000000000}"/>
          </ac:spMkLst>
        </pc:spChg>
        <pc:spChg chg="del">
          <ac:chgData name="carlos mauricio leal medina" userId="850e3810d6ab68aa" providerId="LiveId" clId="{1F9B23B8-4677-4562-9E1C-314BC3486558}" dt="2026-05-19T05:37:25.109" v="31" actId="478"/>
          <ac:spMkLst>
            <pc:docMk/>
            <pc:sldMk cId="0" sldId="258"/>
            <ac:spMk id="27" creationId="{00000000-0000-0000-0000-000000000000}"/>
          </ac:spMkLst>
        </pc:spChg>
        <pc:spChg chg="del">
          <ac:chgData name="carlos mauricio leal medina" userId="850e3810d6ab68aa" providerId="LiveId" clId="{1F9B23B8-4677-4562-9E1C-314BC3486558}" dt="2026-05-19T05:37:37.571" v="35" actId="478"/>
          <ac:spMkLst>
            <pc:docMk/>
            <pc:sldMk cId="0" sldId="258"/>
            <ac:spMk id="36" creationId="{00000000-0000-0000-0000-000000000000}"/>
          </ac:spMkLst>
        </pc:spChg>
        <pc:spChg chg="mod">
          <ac:chgData name="carlos mauricio leal medina" userId="850e3810d6ab68aa" providerId="LiveId" clId="{1F9B23B8-4677-4562-9E1C-314BC3486558}" dt="2026-05-19T05:36:59.679" v="27" actId="1076"/>
          <ac:spMkLst>
            <pc:docMk/>
            <pc:sldMk cId="0" sldId="258"/>
            <ac:spMk id="65" creationId="{00000000-0000-0000-0000-000000000000}"/>
          </ac:spMkLst>
        </pc:spChg>
        <pc:spChg chg="mod">
          <ac:chgData name="carlos mauricio leal medina" userId="850e3810d6ab68aa" providerId="LiveId" clId="{1F9B23B8-4677-4562-9E1C-314BC3486558}" dt="2026-05-19T05:36:54.369" v="26" actId="1076"/>
          <ac:spMkLst>
            <pc:docMk/>
            <pc:sldMk cId="0" sldId="258"/>
            <ac:spMk id="66" creationId="{00000000-0000-0000-0000-000000000000}"/>
          </ac:spMkLst>
        </pc:spChg>
        <pc:spChg chg="del">
          <ac:chgData name="carlos mauricio leal medina" userId="850e3810d6ab68aa" providerId="LiveId" clId="{1F9B23B8-4677-4562-9E1C-314BC3486558}" dt="2026-05-19T05:34:48.802" v="7" actId="478"/>
          <ac:spMkLst>
            <pc:docMk/>
            <pc:sldMk cId="0" sldId="258"/>
            <ac:spMk id="67" creationId="{00000000-0000-0000-0000-000000000000}"/>
          </ac:spMkLst>
        </pc:spChg>
        <pc:spChg chg="del">
          <ac:chgData name="carlos mauricio leal medina" userId="850e3810d6ab68aa" providerId="LiveId" clId="{1F9B23B8-4677-4562-9E1C-314BC3486558}" dt="2026-05-19T05:34:51.289" v="8" actId="478"/>
          <ac:spMkLst>
            <pc:docMk/>
            <pc:sldMk cId="0" sldId="258"/>
            <ac:spMk id="68" creationId="{00000000-0000-0000-0000-000000000000}"/>
          </ac:spMkLst>
        </pc:spChg>
        <pc:picChg chg="mod">
          <ac:chgData name="carlos mauricio leal medina" userId="850e3810d6ab68aa" providerId="LiveId" clId="{1F9B23B8-4677-4562-9E1C-314BC3486558}" dt="2026-05-19T05:36:24.815" v="19" actId="1076"/>
          <ac:picMkLst>
            <pc:docMk/>
            <pc:sldMk cId="0" sldId="258"/>
            <ac:picMk id="2" creationId="{00000000-0000-0000-0000-000000000000}"/>
          </ac:picMkLst>
        </pc:picChg>
        <pc:picChg chg="add mod">
          <ac:chgData name="carlos mauricio leal medina" userId="850e3810d6ab68aa" providerId="LiveId" clId="{1F9B23B8-4677-4562-9E1C-314BC3486558}" dt="2026-05-19T05:37:06.074" v="30" actId="1076"/>
          <ac:picMkLst>
            <pc:docMk/>
            <pc:sldMk cId="0" sldId="258"/>
            <ac:picMk id="70" creationId="{DDD5ECBC-F9DB-67AB-4B2F-111DF7146EAD}"/>
          </ac:picMkLst>
        </pc:picChg>
      </pc:sldChg>
      <pc:sldChg chg="modSp mod">
        <pc:chgData name="carlos mauricio leal medina" userId="850e3810d6ab68aa" providerId="LiveId" clId="{1F9B23B8-4677-4562-9E1C-314BC3486558}" dt="2026-05-19T05:39:06.379" v="41" actId="20577"/>
        <pc:sldMkLst>
          <pc:docMk/>
          <pc:sldMk cId="0" sldId="260"/>
        </pc:sldMkLst>
        <pc:spChg chg="mod">
          <ac:chgData name="carlos mauricio leal medina" userId="850e3810d6ab68aa" providerId="LiveId" clId="{1F9B23B8-4677-4562-9E1C-314BC3486558}" dt="2026-05-19T05:39:01.671" v="40" actId="20577"/>
          <ac:spMkLst>
            <pc:docMk/>
            <pc:sldMk cId="0" sldId="260"/>
            <ac:spMk id="10" creationId="{00000000-0000-0000-0000-000000000000}"/>
          </ac:spMkLst>
        </pc:spChg>
        <pc:spChg chg="mod">
          <ac:chgData name="carlos mauricio leal medina" userId="850e3810d6ab68aa" providerId="LiveId" clId="{1F9B23B8-4677-4562-9E1C-314BC3486558}" dt="2026-05-19T05:39:06.379" v="41" actId="20577"/>
          <ac:spMkLst>
            <pc:docMk/>
            <pc:sldMk cId="0" sldId="260"/>
            <ac:spMk id="14" creationId="{00000000-0000-0000-0000-000000000000}"/>
          </ac:spMkLst>
        </pc:spChg>
      </pc:sldChg>
      <pc:sldChg chg="addSp delSp modSp mod">
        <pc:chgData name="carlos mauricio leal medina" userId="850e3810d6ab68aa" providerId="LiveId" clId="{1F9B23B8-4677-4562-9E1C-314BC3486558}" dt="2026-05-19T05:42:45.815" v="78" actId="1076"/>
        <pc:sldMkLst>
          <pc:docMk/>
          <pc:sldMk cId="0" sldId="261"/>
        </pc:sldMkLst>
        <pc:spChg chg="mod">
          <ac:chgData name="carlos mauricio leal medina" userId="850e3810d6ab68aa" providerId="LiveId" clId="{1F9B23B8-4677-4562-9E1C-314BC3486558}" dt="2026-05-19T05:42:39.711" v="76" actId="14100"/>
          <ac:spMkLst>
            <pc:docMk/>
            <pc:sldMk cId="0" sldId="261"/>
            <ac:spMk id="51" creationId="{00000000-0000-0000-0000-000000000000}"/>
          </ac:spMkLst>
        </pc:spChg>
        <pc:spChg chg="del mod">
          <ac:chgData name="carlos mauricio leal medina" userId="850e3810d6ab68aa" providerId="LiveId" clId="{1F9B23B8-4677-4562-9E1C-314BC3486558}" dt="2026-05-19T05:42:32.315" v="73" actId="478"/>
          <ac:spMkLst>
            <pc:docMk/>
            <pc:sldMk cId="0" sldId="261"/>
            <ac:spMk id="52" creationId="{00000000-0000-0000-0000-000000000000}"/>
          </ac:spMkLst>
        </pc:spChg>
        <pc:spChg chg="add mod">
          <ac:chgData name="carlos mauricio leal medina" userId="850e3810d6ab68aa" providerId="LiveId" clId="{1F9B23B8-4677-4562-9E1C-314BC3486558}" dt="2026-05-19T05:41:16.618" v="61" actId="1076"/>
          <ac:spMkLst>
            <pc:docMk/>
            <pc:sldMk cId="0" sldId="261"/>
            <ac:spMk id="55" creationId="{E1379CC8-2D4F-D2C4-4FEF-329D736384A1}"/>
          </ac:spMkLst>
        </pc:spChg>
        <pc:spChg chg="add mod">
          <ac:chgData name="carlos mauricio leal medina" userId="850e3810d6ab68aa" providerId="LiveId" clId="{1F9B23B8-4677-4562-9E1C-314BC3486558}" dt="2026-05-19T05:41:37.122" v="66" actId="1076"/>
          <ac:spMkLst>
            <pc:docMk/>
            <pc:sldMk cId="0" sldId="261"/>
            <ac:spMk id="57" creationId="{B025E306-FCA7-4121-F043-ED8FD8AE9CE9}"/>
          </ac:spMkLst>
        </pc:spChg>
        <pc:picChg chg="mod">
          <ac:chgData name="carlos mauricio leal medina" userId="850e3810d6ab68aa" providerId="LiveId" clId="{1F9B23B8-4677-4562-9E1C-314BC3486558}" dt="2026-05-19T05:40:46.516" v="51" actId="1076"/>
          <ac:picMkLst>
            <pc:docMk/>
            <pc:sldMk cId="0" sldId="261"/>
            <ac:picMk id="2" creationId="{00000000-0000-0000-0000-000000000000}"/>
          </ac:picMkLst>
        </pc:picChg>
        <pc:picChg chg="add mod">
          <ac:chgData name="carlos mauricio leal medina" userId="850e3810d6ab68aa" providerId="LiveId" clId="{1F9B23B8-4677-4562-9E1C-314BC3486558}" dt="2026-05-19T05:41:22.665" v="63" actId="14100"/>
          <ac:picMkLst>
            <pc:docMk/>
            <pc:sldMk cId="0" sldId="261"/>
            <ac:picMk id="53" creationId="{4B288B32-B1AE-144D-5699-A7747375D186}"/>
          </ac:picMkLst>
        </pc:picChg>
        <pc:picChg chg="add mod">
          <ac:chgData name="carlos mauricio leal medina" userId="850e3810d6ab68aa" providerId="LiveId" clId="{1F9B23B8-4677-4562-9E1C-314BC3486558}" dt="2026-05-19T05:42:45.815" v="78" actId="1076"/>
          <ac:picMkLst>
            <pc:docMk/>
            <pc:sldMk cId="0" sldId="261"/>
            <ac:picMk id="58" creationId="{CE879696-886F-5AB2-E682-9CEFA208F925}"/>
          </ac:picMkLst>
        </pc:picChg>
      </pc:sldChg>
      <pc:sldChg chg="modSp mod">
        <pc:chgData name="carlos mauricio leal medina" userId="850e3810d6ab68aa" providerId="LiveId" clId="{1F9B23B8-4677-4562-9E1C-314BC3486558}" dt="2026-05-19T05:38:27.049" v="37" actId="20577"/>
        <pc:sldMkLst>
          <pc:docMk/>
          <pc:sldMk cId="0" sldId="262"/>
        </pc:sldMkLst>
        <pc:spChg chg="mod">
          <ac:chgData name="carlos mauricio leal medina" userId="850e3810d6ab68aa" providerId="LiveId" clId="{1F9B23B8-4677-4562-9E1C-314BC3486558}" dt="2026-05-19T05:38:27.049" v="37" actId="20577"/>
          <ac:spMkLst>
            <pc:docMk/>
            <pc:sldMk cId="0" sldId="262"/>
            <ac:spMk id="38" creationId="{00000000-0000-0000-0000-000000000000}"/>
          </ac:spMkLst>
        </pc:spChg>
      </pc:sldChg>
      <pc:sldChg chg="modSp mod">
        <pc:chgData name="carlos mauricio leal medina" userId="850e3810d6ab68aa" providerId="LiveId" clId="{1F9B23B8-4677-4562-9E1C-314BC3486558}" dt="2026-05-19T05:43:21.929" v="81" actId="1076"/>
        <pc:sldMkLst>
          <pc:docMk/>
          <pc:sldMk cId="0" sldId="263"/>
        </pc:sldMkLst>
        <pc:spChg chg="mod">
          <ac:chgData name="carlos mauricio leal medina" userId="850e3810d6ab68aa" providerId="LiveId" clId="{1F9B23B8-4677-4562-9E1C-314BC3486558}" dt="2026-05-19T05:43:19.760" v="80" actId="1076"/>
          <ac:spMkLst>
            <pc:docMk/>
            <pc:sldMk cId="0" sldId="263"/>
            <ac:spMk id="8" creationId="{00000000-0000-0000-0000-000000000000}"/>
          </ac:spMkLst>
        </pc:spChg>
        <pc:spChg chg="mod">
          <ac:chgData name="carlos mauricio leal medina" userId="850e3810d6ab68aa" providerId="LiveId" clId="{1F9B23B8-4677-4562-9E1C-314BC3486558}" dt="2026-05-19T05:43:21.929" v="81" actId="1076"/>
          <ac:spMkLst>
            <pc:docMk/>
            <pc:sldMk cId="0" sldId="263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2953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1 — Presentación. Mencionar el nombre del proyecto TechDelSur, los integrantes, la materia Telemática I y el docente. Destacar que se implementó una red empresarial completa con IPv4 e IPv6 en Cisco Packet Tracer.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2 — Explicar el problema: 6 departamentos que necesitan comunicarse. Enfatizar la necesidad de IPv6 en la industria actual. Mencionar los 8 objetivos específicos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3 — Topología. Explicar que R1 conecta 3 LANs (izquierda) y R2 otras 3 (derecha). El enlace WAN une ambos routers. Insertar la captura real de Packet Tracer en el recuadro punteado.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4 — Direccionamiento. Explicar el subneteo: se partieron 3 bits del bloque /20 obteniendo /23 con número guía 2. Para IPv6 se extendió de /48 a /64. Destacar la ventaja del dual-stack para la transición tecnológica.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5 — ESTRELLA. Explicar que 'ipv6 unicast-routing' es el comando clave para habilitar IPv6 en Cisco IOS. RIPv2 se configura globalmente, RIPng va por interfaz. Mostrar cómo las tablas de enrutamiento muestran rutas R para las redes remotas. Esta es la parte más técnica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6 — Servicios y pruebas. Mostrar las capturas reales en los espacios punteados. Explicar que el TTL=126 confirma 2 saltos de router. El tracert muestra la ruta exacta: PC→R1→R2→destino.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7 — Conclusiones. Repasar los 6 logros técnicos. Enfatizar que el proyecto demostró dominio de redes de computadores, protocolo IPv6 y enrutamiento dinámico. Mencionar oportunidades de mejora: OSPF, VLANs múltiples, ACLs, SSH.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8 — Referencias. Mencionar que todas las fuentes son RFCs oficiales del IETF y documentación Cisco. Agradecer al docente y al jurado. Abrirse a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960120"/>
            <a:ext cx="2834640" cy="310896"/>
          </a:xfrm>
          <a:prstGeom prst="roundRect">
            <a:avLst>
              <a:gd name="adj" fmla="val 14706"/>
            </a:avLst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411480" y="9601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PROYECTO FINAL — TELEMÁTICA I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11480" y="1353312"/>
            <a:ext cx="29260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Empresarial
</a:t>
            </a:r>
            <a:r>
              <a:rPr lang="en-US" sz="28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Dual-Stack
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/ IPv6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11480" y="27157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TechDelSur — Cisco Packet Tracer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11480" y="3017520"/>
            <a:ext cx="2560320" cy="27432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411480" y="3081528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Mauricio Leal Medina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Felipe Cerquera Idrobo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0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Jose Andres Cardona Rojas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11480" y="36758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0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</a:t>
            </a:r>
            <a:r>
              <a:rPr lang="en-US" sz="85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Álvaro Hernán Alarcón López
</a:t>
            </a:r>
            <a:r>
              <a:rPr lang="en-US" sz="850" b="1" dirty="0">
                <a:solidFill>
                  <a:srgbClr val="A0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Prog: </a:t>
            </a:r>
            <a:r>
              <a:rPr lang="en-US" sz="85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Sistemas
</a:t>
            </a:r>
            <a:r>
              <a:rPr lang="en-US" sz="850" b="1" dirty="0">
                <a:solidFill>
                  <a:srgbClr val="A0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 </a:t>
            </a:r>
            <a:r>
              <a:rPr lang="en-US" sz="850" dirty="0">
                <a:solidFill>
                  <a:srgbClr val="C5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486400" y="502920"/>
            <a:ext cx="3291840" cy="4160520"/>
          </a:xfrm>
          <a:prstGeom prst="rect">
            <a:avLst/>
          </a:prstGeom>
          <a:solidFill>
            <a:srgbClr val="1B2A4A">
              <a:alpha val="80000"/>
            </a:srgbClr>
          </a:solidFill>
          <a:ln w="1905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5577840" y="56692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A89D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</a:t>
            </a:r>
            <a:endParaRPr lang="en-US" sz="7200" dirty="0"/>
          </a:p>
        </p:txBody>
      </p:sp>
      <p:sp>
        <p:nvSpPr>
          <p:cNvPr id="12" name="Shape 9"/>
          <p:cNvSpPr/>
          <p:nvPr/>
        </p:nvSpPr>
        <p:spPr>
          <a:xfrm>
            <a:off x="5577840" y="1645920"/>
            <a:ext cx="3108960" cy="457200"/>
          </a:xfrm>
          <a:prstGeom prst="rect">
            <a:avLst/>
          </a:prstGeom>
          <a:solidFill>
            <a:srgbClr val="1E3A5F">
              <a:alpha val="70000"/>
            </a:srgbClr>
          </a:solidFill>
          <a:ln w="635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5623560" y="16459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A89D"/>
                </a:solidFill>
              </a:rPr>
              <a:t>⬡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961888" y="165506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Dual-Stack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961888" y="186537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+ IPv6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577840" y="2176272"/>
            <a:ext cx="3108960" cy="457200"/>
          </a:xfrm>
          <a:prstGeom prst="rect">
            <a:avLst/>
          </a:prstGeom>
          <a:solidFill>
            <a:srgbClr val="1E3A5F">
              <a:alpha val="70000"/>
            </a:srgbClr>
          </a:solidFill>
          <a:ln w="635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4"/>
          <p:cNvSpPr/>
          <p:nvPr/>
        </p:nvSpPr>
        <p:spPr>
          <a:xfrm>
            <a:off x="5623560" y="217627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A89D"/>
                </a:solidFill>
              </a:rPr>
              <a:t>⟳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961888" y="21854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Enrutamiento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961888" y="239572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RIPv2 + RIPng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5577840" y="2706624"/>
            <a:ext cx="3108960" cy="457200"/>
          </a:xfrm>
          <a:prstGeom prst="rect">
            <a:avLst/>
          </a:prstGeom>
          <a:solidFill>
            <a:srgbClr val="1E3A5F">
              <a:alpha val="70000"/>
            </a:srgbClr>
          </a:solidFill>
          <a:ln w="635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8"/>
          <p:cNvSpPr/>
          <p:nvPr/>
        </p:nvSpPr>
        <p:spPr>
          <a:xfrm>
            <a:off x="5623560" y="270662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A89D"/>
                </a:solidFill>
              </a:rPr>
              <a:t>◈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961888" y="27157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961888" y="292608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Routers · 6 Switches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5577840" y="3236976"/>
            <a:ext cx="3108960" cy="457200"/>
          </a:xfrm>
          <a:prstGeom prst="rect">
            <a:avLst/>
          </a:prstGeom>
          <a:solidFill>
            <a:srgbClr val="1E3A5F">
              <a:alpha val="70000"/>
            </a:srgbClr>
          </a:solidFill>
          <a:ln w="635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2"/>
          <p:cNvSpPr/>
          <p:nvPr/>
        </p:nvSpPr>
        <p:spPr>
          <a:xfrm>
            <a:off x="5623560" y="323697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A89D"/>
                </a:solidFill>
              </a:rPr>
              <a:t>◉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961888" y="32461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961888" y="345643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Departamentos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5577840" y="3767328"/>
            <a:ext cx="3108960" cy="457200"/>
          </a:xfrm>
          <a:prstGeom prst="rect">
            <a:avLst/>
          </a:prstGeom>
          <a:solidFill>
            <a:srgbClr val="1E3A5F">
              <a:alpha val="70000"/>
            </a:srgbClr>
          </a:solidFill>
          <a:ln w="635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6"/>
          <p:cNvSpPr/>
          <p:nvPr/>
        </p:nvSpPr>
        <p:spPr>
          <a:xfrm>
            <a:off x="5623560" y="37673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A89D"/>
                </a:solidFill>
              </a:rPr>
              <a:t>◆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5961888" y="37764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961888" y="398678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· DNS · HTTP · FTP · SMTP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7472" y="502920"/>
            <a:ext cx="292608" cy="292608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347472" y="502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" y="5029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Y ANÁLISIS DEL PROBLEMA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47472" y="932688"/>
            <a:ext cx="5394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347472" y="932688"/>
            <a:ext cx="91440" cy="160020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502920" y="96926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1252728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empresa mediana con </a:t>
            </a: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departamentos </a:t>
            </a: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 interconectarlos mediante dos routers. La infraestructura debe soportar </a:t>
            </a:r>
            <a:r>
              <a:rPr lang="en-US" sz="105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e IPv6 simultáneamente </a:t>
            </a: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(Dual-Stack) y garantizar comunicación entre todas las LANs, con enrutamiento dinámico y servicios de red completos.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870448" y="932688"/>
            <a:ext cx="2926080" cy="373075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5961888" y="1005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61888" y="1353312"/>
            <a:ext cx="2724912" cy="438912"/>
          </a:xfrm>
          <a:prstGeom prst="rect">
            <a:avLst/>
          </a:prstGeom>
          <a:solidFill>
            <a:srgbClr val="1E3A5F"/>
          </a:solidFill>
          <a:ln w="635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5961888" y="1353312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89D"/>
                </a:solidFill>
              </a:rPr>
              <a:t>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263640" y="137160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red dual-stack IPv4/IPv6 para 6 LANs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961888" y="1874520"/>
            <a:ext cx="2724912" cy="438912"/>
          </a:xfrm>
          <a:prstGeom prst="rect">
            <a:avLst/>
          </a:prstGeom>
          <a:solidFill>
            <a:srgbClr val="1E3A5F"/>
          </a:solidFill>
          <a:ln w="635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5961888" y="1874520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89D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263640" y="1892808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Subnetear 192.150.128.0/20 en 7 subredes /23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961888" y="2395728"/>
            <a:ext cx="2724912" cy="438912"/>
          </a:xfrm>
          <a:prstGeom prst="rect">
            <a:avLst/>
          </a:prstGeom>
          <a:solidFill>
            <a:srgbClr val="1E3A5F"/>
          </a:solidFill>
          <a:ln w="635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6"/>
          <p:cNvSpPr/>
          <p:nvPr/>
        </p:nvSpPr>
        <p:spPr>
          <a:xfrm>
            <a:off x="5961888" y="2395728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89D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263640" y="241401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Subnetear 2800:ABCD:1234::/48 en 7 subredes /64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961888" y="2916936"/>
            <a:ext cx="2724912" cy="438912"/>
          </a:xfrm>
          <a:prstGeom prst="rect">
            <a:avLst/>
          </a:prstGeom>
          <a:solidFill>
            <a:srgbClr val="1E3A5F"/>
          </a:solidFill>
          <a:ln w="635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19"/>
          <p:cNvSpPr/>
          <p:nvPr/>
        </p:nvSpPr>
        <p:spPr>
          <a:xfrm>
            <a:off x="5961888" y="291693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89D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263640" y="2935224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RIPv2 y RIPng en R1 y R2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961888" y="3438144"/>
            <a:ext cx="2724912" cy="438912"/>
          </a:xfrm>
          <a:prstGeom prst="rect">
            <a:avLst/>
          </a:prstGeom>
          <a:solidFill>
            <a:srgbClr val="1E3A5F"/>
          </a:solidFill>
          <a:ln w="635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2"/>
          <p:cNvSpPr/>
          <p:nvPr/>
        </p:nvSpPr>
        <p:spPr>
          <a:xfrm>
            <a:off x="5961888" y="3438144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89D"/>
                </a:solidFill>
              </a:rPr>
              <a:t>5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263640" y="345643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DHCP, DNS, HTTP, FTP, SMTP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961888" y="3959352"/>
            <a:ext cx="2724912" cy="438912"/>
          </a:xfrm>
          <a:prstGeom prst="rect">
            <a:avLst/>
          </a:prstGeom>
          <a:solidFill>
            <a:srgbClr val="1E3A5F"/>
          </a:solidFill>
          <a:ln w="635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5"/>
          <p:cNvSpPr/>
          <p:nvPr/>
        </p:nvSpPr>
        <p:spPr>
          <a:xfrm>
            <a:off x="5961888" y="3959352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89D"/>
                </a:solidFill>
              </a:rPr>
              <a:t>6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263640" y="397764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conectividad inter-LAN IPv4 e IPv6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347472" y="2651760"/>
            <a:ext cx="1234440" cy="1005840"/>
          </a:xfrm>
          <a:prstGeom prst="rect">
            <a:avLst/>
          </a:prstGeom>
          <a:solidFill>
            <a:srgbClr val="1B2A4A"/>
          </a:solidFill>
          <a:ln w="15240">
            <a:solidFill>
              <a:srgbClr val="00A89D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Text 28"/>
          <p:cNvSpPr/>
          <p:nvPr/>
        </p:nvSpPr>
        <p:spPr>
          <a:xfrm>
            <a:off x="347472" y="267004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D"/>
                </a:solidFill>
              </a:rPr>
              <a:t>7</a:t>
            </a:r>
            <a:endParaRPr lang="en-US" sz="2800" dirty="0"/>
          </a:p>
        </p:txBody>
      </p:sp>
      <p:sp>
        <p:nvSpPr>
          <p:cNvPr id="32" name="Text 29"/>
          <p:cNvSpPr/>
          <p:nvPr/>
        </p:nvSpPr>
        <p:spPr>
          <a:xfrm>
            <a:off x="347472" y="320040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Subredes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/23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682496" y="2651760"/>
            <a:ext cx="1234440" cy="1005840"/>
          </a:xfrm>
          <a:prstGeom prst="rect">
            <a:avLst/>
          </a:prstGeom>
          <a:solidFill>
            <a:srgbClr val="1B2A4A"/>
          </a:solidFill>
          <a:ln w="15240">
            <a:solidFill>
              <a:srgbClr val="00A89D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4" name="Text 31"/>
          <p:cNvSpPr/>
          <p:nvPr/>
        </p:nvSpPr>
        <p:spPr>
          <a:xfrm>
            <a:off x="1682496" y="267004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D"/>
                </a:solidFill>
              </a:rPr>
              <a:t>7</a:t>
            </a:r>
            <a:endParaRPr lang="en-US" sz="2800" dirty="0"/>
          </a:p>
        </p:txBody>
      </p:sp>
      <p:sp>
        <p:nvSpPr>
          <p:cNvPr id="35" name="Text 32"/>
          <p:cNvSpPr/>
          <p:nvPr/>
        </p:nvSpPr>
        <p:spPr>
          <a:xfrm>
            <a:off x="1682496" y="320040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Subredes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 /64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017520" y="2651760"/>
            <a:ext cx="1234440" cy="1005840"/>
          </a:xfrm>
          <a:prstGeom prst="rect">
            <a:avLst/>
          </a:prstGeom>
          <a:solidFill>
            <a:srgbClr val="1B2A4A"/>
          </a:solidFill>
          <a:ln w="15240">
            <a:solidFill>
              <a:srgbClr val="00A89D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7" name="Text 34"/>
          <p:cNvSpPr/>
          <p:nvPr/>
        </p:nvSpPr>
        <p:spPr>
          <a:xfrm>
            <a:off x="3017520" y="267004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D"/>
                </a:solidFill>
              </a:rPr>
              <a:t>2</a:t>
            </a:r>
            <a:endParaRPr lang="en-US" sz="2800" dirty="0"/>
          </a:p>
        </p:txBody>
      </p:sp>
      <p:sp>
        <p:nvSpPr>
          <p:cNvPr id="38" name="Text 35"/>
          <p:cNvSpPr/>
          <p:nvPr/>
        </p:nvSpPr>
        <p:spPr>
          <a:xfrm>
            <a:off x="3017520" y="320040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2911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4352544" y="2651760"/>
            <a:ext cx="1234440" cy="1005840"/>
          </a:xfrm>
          <a:prstGeom prst="rect">
            <a:avLst/>
          </a:prstGeom>
          <a:solidFill>
            <a:srgbClr val="1B2A4A"/>
          </a:solidFill>
          <a:ln w="15240">
            <a:solidFill>
              <a:srgbClr val="00A89D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0" name="Text 37"/>
          <p:cNvSpPr/>
          <p:nvPr/>
        </p:nvSpPr>
        <p:spPr>
          <a:xfrm>
            <a:off x="4352544" y="267004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A89D"/>
                </a:solidFill>
              </a:rPr>
              <a:t>510</a:t>
            </a:r>
            <a:endParaRPr lang="en-US" sz="2800" dirty="0"/>
          </a:p>
        </p:txBody>
      </p:sp>
      <p:sp>
        <p:nvSpPr>
          <p:cNvPr id="41" name="Text 38"/>
          <p:cNvSpPr/>
          <p:nvPr/>
        </p:nvSpPr>
        <p:spPr>
          <a:xfrm>
            <a:off x="4352544" y="320040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Hosts/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Subred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347472" y="3767328"/>
            <a:ext cx="5394960" cy="548640"/>
          </a:xfrm>
          <a:prstGeom prst="rect">
            <a:avLst/>
          </a:prstGeom>
          <a:solidFill>
            <a:srgbClr val="EBF4F8"/>
          </a:solidFill>
          <a:ln w="1016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0"/>
          <p:cNvSpPr/>
          <p:nvPr/>
        </p:nvSpPr>
        <p:spPr>
          <a:xfrm>
            <a:off x="438912" y="3794760"/>
            <a:ext cx="5212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técnico: </a:t>
            </a: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agotamiento de IPv4 (IANA distribuyó el último bloque en 2011) y la creciente adopción de IPv6 hacen necesaria la implementación dual-stack como estrategia de transición recomendada por el RFC 4213.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6616" y="390406"/>
            <a:ext cx="292608" cy="292608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356616" y="37719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" y="39955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TOPOLOGÍA — CISCO PACKET TRACER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749040" y="2103120"/>
            <a:ext cx="1645920" cy="822960"/>
          </a:xfrm>
          <a:prstGeom prst="ellipse">
            <a:avLst/>
          </a:prstGeom>
          <a:solidFill>
            <a:srgbClr val="D0E8F5"/>
          </a:solidFill>
          <a:ln w="1905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3749040" y="2103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192.150.140.0/23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2800:ABCD:1234:7::/64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2331720" y="2011680"/>
            <a:ext cx="1280160" cy="1005840"/>
          </a:xfrm>
          <a:prstGeom prst="rect">
            <a:avLst/>
          </a:prstGeom>
          <a:solidFill>
            <a:srgbClr val="1B2A4A"/>
          </a:solidFill>
          <a:ln w="25400">
            <a:solidFill>
              <a:srgbClr val="00A89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2331720" y="201168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2911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532120" y="2011680"/>
            <a:ext cx="1280160" cy="1005840"/>
          </a:xfrm>
          <a:prstGeom prst="rect">
            <a:avLst/>
          </a:prstGeom>
          <a:solidFill>
            <a:srgbClr val="1B2A4A"/>
          </a:solidFill>
          <a:ln w="25400">
            <a:solidFill>
              <a:srgbClr val="00A89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5532120" y="201168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2911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11880" y="2487168"/>
            <a:ext cx="155448" cy="0"/>
          </a:xfrm>
          <a:prstGeom prst="line">
            <a:avLst/>
          </a:prstGeom>
          <a:noFill/>
          <a:ln w="3175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0"/>
          <p:cNvSpPr/>
          <p:nvPr/>
        </p:nvSpPr>
        <p:spPr>
          <a:xfrm>
            <a:off x="5394960" y="2487168"/>
            <a:ext cx="155448" cy="0"/>
          </a:xfrm>
          <a:prstGeom prst="line">
            <a:avLst/>
          </a:prstGeom>
          <a:noFill/>
          <a:ln w="3175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1"/>
          <p:cNvSpPr/>
          <p:nvPr/>
        </p:nvSpPr>
        <p:spPr>
          <a:xfrm>
            <a:off x="201168" y="658368"/>
            <a:ext cx="1920240" cy="1005840"/>
          </a:xfrm>
          <a:prstGeom prst="rect">
            <a:avLst/>
          </a:prstGeom>
          <a:solidFill>
            <a:srgbClr val="EBF4FF"/>
          </a:solidFill>
          <a:ln w="12700">
            <a:solidFill>
              <a:srgbClr val="1B2A4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2"/>
          <p:cNvSpPr/>
          <p:nvPr/>
        </p:nvSpPr>
        <p:spPr>
          <a:xfrm>
            <a:off x="201168" y="658368"/>
            <a:ext cx="73152" cy="100584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320040" y="6766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TIC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G0/0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20040" y="932688"/>
            <a:ext cx="365760" cy="201168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S1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20040" y="111556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192.150.128.0/23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320040" y="12801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2800:ABCD:1234:::1::/64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320040" y="1444752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PC0-2 + Servidores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2121408" y="1161288"/>
            <a:ext cx="210312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0"/>
          <p:cNvSpPr/>
          <p:nvPr/>
        </p:nvSpPr>
        <p:spPr>
          <a:xfrm>
            <a:off x="201168" y="2176272"/>
            <a:ext cx="1920240" cy="1005840"/>
          </a:xfrm>
          <a:prstGeom prst="rect">
            <a:avLst/>
          </a:prstGeom>
          <a:solidFill>
            <a:srgbClr val="EBF4FF"/>
          </a:solidFill>
          <a:ln w="12700">
            <a:solidFill>
              <a:srgbClr val="1B2A4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Shape 21"/>
          <p:cNvSpPr/>
          <p:nvPr/>
        </p:nvSpPr>
        <p:spPr>
          <a:xfrm>
            <a:off x="201168" y="2176272"/>
            <a:ext cx="73152" cy="100584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2"/>
          <p:cNvSpPr/>
          <p:nvPr/>
        </p:nvSpPr>
        <p:spPr>
          <a:xfrm>
            <a:off x="32004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G1/0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20040" y="2450592"/>
            <a:ext cx="365760" cy="201168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S2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320040" y="2633472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192.150.130.0/23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320040" y="279806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2800:ABCD:1234:::2::/64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320040" y="296265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PC3-5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2121408" y="2679192"/>
            <a:ext cx="210312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29"/>
          <p:cNvSpPr/>
          <p:nvPr/>
        </p:nvSpPr>
        <p:spPr>
          <a:xfrm>
            <a:off x="201168" y="3703320"/>
            <a:ext cx="1920240" cy="1005840"/>
          </a:xfrm>
          <a:prstGeom prst="rect">
            <a:avLst/>
          </a:prstGeom>
          <a:solidFill>
            <a:srgbClr val="EBF4FF"/>
          </a:solidFill>
          <a:ln w="12700">
            <a:solidFill>
              <a:srgbClr val="1B2A4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3" name="Shape 30"/>
          <p:cNvSpPr/>
          <p:nvPr/>
        </p:nvSpPr>
        <p:spPr>
          <a:xfrm>
            <a:off x="201168" y="3703320"/>
            <a:ext cx="73152" cy="100584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1"/>
          <p:cNvSpPr/>
          <p:nvPr/>
        </p:nvSpPr>
        <p:spPr>
          <a:xfrm>
            <a:off x="320040" y="37216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G2/0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320040" y="3977640"/>
            <a:ext cx="365760" cy="201168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S3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20040" y="41605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192.150.132.0/23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320040" y="4325112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2800:ABCD:1234:::3::/64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320040" y="448970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PC6-8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2121408" y="4206240"/>
            <a:ext cx="210312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41" name="Shape 38"/>
          <p:cNvSpPr/>
          <p:nvPr/>
        </p:nvSpPr>
        <p:spPr>
          <a:xfrm>
            <a:off x="7022592" y="658368"/>
            <a:ext cx="1920240" cy="1005840"/>
          </a:xfrm>
          <a:prstGeom prst="rect">
            <a:avLst/>
          </a:prstGeom>
          <a:solidFill>
            <a:srgbClr val="EBF4FF"/>
          </a:solidFill>
          <a:ln w="12700">
            <a:solidFill>
              <a:srgbClr val="1B2A4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2" name="Shape 39"/>
          <p:cNvSpPr/>
          <p:nvPr/>
        </p:nvSpPr>
        <p:spPr>
          <a:xfrm>
            <a:off x="7022592" y="658368"/>
            <a:ext cx="73152" cy="1005840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0"/>
          <p:cNvSpPr/>
          <p:nvPr/>
        </p:nvSpPr>
        <p:spPr>
          <a:xfrm>
            <a:off x="7132320" y="6766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G0/0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7132320" y="93268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Switch: S4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7132320" y="1115568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192.150.134.0/23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7132320" y="128016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2800:ABCD:1234:::4::/64</a:t>
            </a:r>
            <a:endParaRPr lang="en-US" sz="650" dirty="0"/>
          </a:p>
        </p:txBody>
      </p:sp>
      <p:sp>
        <p:nvSpPr>
          <p:cNvPr id="47" name="Text 44"/>
          <p:cNvSpPr/>
          <p:nvPr/>
        </p:nvSpPr>
        <p:spPr>
          <a:xfrm>
            <a:off x="7132320" y="1444752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PC9-11</a:t>
            </a:r>
            <a:endParaRPr lang="en-US" sz="700" dirty="0"/>
          </a:p>
        </p:txBody>
      </p:sp>
      <p:sp>
        <p:nvSpPr>
          <p:cNvPr id="48" name="Shape 45"/>
          <p:cNvSpPr/>
          <p:nvPr/>
        </p:nvSpPr>
        <p:spPr>
          <a:xfrm>
            <a:off x="6812280" y="1161288"/>
            <a:ext cx="210312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49" name="Shape 46"/>
          <p:cNvSpPr/>
          <p:nvPr/>
        </p:nvSpPr>
        <p:spPr>
          <a:xfrm>
            <a:off x="7022592" y="2176272"/>
            <a:ext cx="1920240" cy="1005840"/>
          </a:xfrm>
          <a:prstGeom prst="rect">
            <a:avLst/>
          </a:prstGeom>
          <a:solidFill>
            <a:srgbClr val="EBF4FF"/>
          </a:solidFill>
          <a:ln w="12700">
            <a:solidFill>
              <a:srgbClr val="1B2A4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0" name="Shape 47"/>
          <p:cNvSpPr/>
          <p:nvPr/>
        </p:nvSpPr>
        <p:spPr>
          <a:xfrm>
            <a:off x="7022592" y="2176272"/>
            <a:ext cx="73152" cy="1005840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Text 48"/>
          <p:cNvSpPr/>
          <p:nvPr/>
        </p:nvSpPr>
        <p:spPr>
          <a:xfrm>
            <a:off x="713232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G1/0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7132320" y="245059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Switch: S5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7132320" y="2633472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192.150.136.0/23</a:t>
            </a:r>
            <a:endParaRPr lang="en-US" sz="700" dirty="0"/>
          </a:p>
        </p:txBody>
      </p:sp>
      <p:sp>
        <p:nvSpPr>
          <p:cNvPr id="54" name="Text 51"/>
          <p:cNvSpPr/>
          <p:nvPr/>
        </p:nvSpPr>
        <p:spPr>
          <a:xfrm>
            <a:off x="7132320" y="279806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2800:ABCD:1234:::5::/64</a:t>
            </a:r>
            <a:endParaRPr lang="en-US" sz="650" dirty="0"/>
          </a:p>
        </p:txBody>
      </p:sp>
      <p:sp>
        <p:nvSpPr>
          <p:cNvPr id="55" name="Text 52"/>
          <p:cNvSpPr/>
          <p:nvPr/>
        </p:nvSpPr>
        <p:spPr>
          <a:xfrm>
            <a:off x="7132320" y="296265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PC12-14</a:t>
            </a:r>
            <a:endParaRPr lang="en-US" sz="700" dirty="0"/>
          </a:p>
        </p:txBody>
      </p:sp>
      <p:sp>
        <p:nvSpPr>
          <p:cNvPr id="56" name="Shape 53"/>
          <p:cNvSpPr/>
          <p:nvPr/>
        </p:nvSpPr>
        <p:spPr>
          <a:xfrm>
            <a:off x="6812280" y="2679192"/>
            <a:ext cx="210312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57" name="Shape 54"/>
          <p:cNvSpPr/>
          <p:nvPr/>
        </p:nvSpPr>
        <p:spPr>
          <a:xfrm>
            <a:off x="7022592" y="3703320"/>
            <a:ext cx="1920240" cy="1005840"/>
          </a:xfrm>
          <a:prstGeom prst="rect">
            <a:avLst/>
          </a:prstGeom>
          <a:solidFill>
            <a:srgbClr val="EBF4FF"/>
          </a:solidFill>
          <a:ln w="12700">
            <a:solidFill>
              <a:srgbClr val="1B2A4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8" name="Shape 55"/>
          <p:cNvSpPr/>
          <p:nvPr/>
        </p:nvSpPr>
        <p:spPr>
          <a:xfrm>
            <a:off x="7022592" y="3703320"/>
            <a:ext cx="73152" cy="1005840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9" name="Text 56"/>
          <p:cNvSpPr/>
          <p:nvPr/>
        </p:nvSpPr>
        <p:spPr>
          <a:xfrm>
            <a:off x="7132320" y="37216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850" dirty="0"/>
          </a:p>
          <a:p>
            <a:pPr marL="0" indent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G2/0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7132320" y="397764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Switch: S6</a:t>
            </a:r>
            <a:endParaRPr lang="en-US" sz="750" dirty="0"/>
          </a:p>
        </p:txBody>
      </p:sp>
      <p:sp>
        <p:nvSpPr>
          <p:cNvPr id="61" name="Text 58"/>
          <p:cNvSpPr/>
          <p:nvPr/>
        </p:nvSpPr>
        <p:spPr>
          <a:xfrm>
            <a:off x="7132320" y="416052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192.150.138.0/23</a:t>
            </a:r>
            <a:endParaRPr lang="en-US" sz="700" dirty="0"/>
          </a:p>
        </p:txBody>
      </p:sp>
      <p:sp>
        <p:nvSpPr>
          <p:cNvPr id="62" name="Text 59"/>
          <p:cNvSpPr/>
          <p:nvPr/>
        </p:nvSpPr>
        <p:spPr>
          <a:xfrm>
            <a:off x="7132320" y="4325112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2800:ABCD:1234:::6::/64</a:t>
            </a:r>
            <a:endParaRPr lang="en-US" sz="650" dirty="0"/>
          </a:p>
        </p:txBody>
      </p:sp>
      <p:sp>
        <p:nvSpPr>
          <p:cNvPr id="63" name="Text 60"/>
          <p:cNvSpPr/>
          <p:nvPr/>
        </p:nvSpPr>
        <p:spPr>
          <a:xfrm>
            <a:off x="7132320" y="448970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PC15-17</a:t>
            </a:r>
            <a:endParaRPr lang="en-US" sz="700" dirty="0"/>
          </a:p>
        </p:txBody>
      </p:sp>
      <p:sp>
        <p:nvSpPr>
          <p:cNvPr id="64" name="Shape 61"/>
          <p:cNvSpPr/>
          <p:nvPr/>
        </p:nvSpPr>
        <p:spPr>
          <a:xfrm>
            <a:off x="6812280" y="4206240"/>
            <a:ext cx="210312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65" name="Shape 62"/>
          <p:cNvSpPr/>
          <p:nvPr/>
        </p:nvSpPr>
        <p:spPr>
          <a:xfrm>
            <a:off x="3017520" y="658368"/>
            <a:ext cx="31089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6" name="Text 63"/>
          <p:cNvSpPr/>
          <p:nvPr/>
        </p:nvSpPr>
        <p:spPr>
          <a:xfrm>
            <a:off x="3104388" y="615613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(Soporte/DevOps/Admin)  </a:t>
            </a:r>
            <a:r>
              <a:rPr lang="en-US" sz="8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(QA/Ventas/Desarrollo)</a:t>
            </a:r>
            <a:endParaRPr lang="en-US" sz="800" dirty="0"/>
          </a:p>
        </p:txBody>
      </p:sp>
      <p:pic>
        <p:nvPicPr>
          <p:cNvPr id="70" name="Imagen 69">
            <a:extLst>
              <a:ext uri="{FF2B5EF4-FFF2-40B4-BE49-F238E27FC236}">
                <a16:creationId xmlns:a16="http://schemas.microsoft.com/office/drawing/2014/main" id="{DDD5ECBC-F9DB-67AB-4B2F-111DF7146E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9232" y="3026467"/>
            <a:ext cx="2995587" cy="21170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7472" y="502920"/>
            <a:ext cx="292608" cy="292608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347472" y="502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" y="5029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DIRECCIONAMIENTO IPv4 e IPv6 — DUAL STACK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47472" y="914400"/>
            <a:ext cx="406908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347472" y="91440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IPv4 — Base: 192.150.128.0/20  →  7 subredes /23  (n=3 bits, número guía=2)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188720"/>
          <a:ext cx="4983480" cy="16535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 / Dpto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Broadcast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Soporte TIC (G0/0)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192.150.128.0/23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192.150.128.1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192.150.129.255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DevOps (G1/0)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192.150.130.0/23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192.150.130.1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192.150.131.255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Administración (G2/0)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192.150.132.0/23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192.150.132.1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192.150.133.255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 (G0/0)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192.150.134.0/23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192.150.134.1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192.150.135.255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Ventas (G1/0)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192.150.136.0/23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192.150.136.1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192.150.137.255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Desarrollo (G2/0)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192.150.138.0/23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192.150.138.1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192.150.139.255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Enlace WAN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192.150.140.0/23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192.150.141.255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44568" y="914400"/>
            <a:ext cx="4251960" cy="256032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6"/>
          <p:cNvSpPr/>
          <p:nvPr/>
        </p:nvSpPr>
        <p:spPr>
          <a:xfrm>
            <a:off x="4544568" y="91440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IPv6 — Base: 2800:ABCD:1234::/48  →  7 subredes /64  (2¹⁶ subredes disponibles)</a:t>
            </a:r>
            <a:endParaRPr lang="en-US" sz="8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44568" y="1188720"/>
          <a:ext cx="4251960" cy="165354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Subred / Dpto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Prefijo /64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 IPv6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Soporte TIC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2800:ABCD:1234:0001::/64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2800:ABCD:1234:1::1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DevOps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2800:ABCD:1234:0002::/64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2800:ABCD:1234:2::1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Administración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2800:ABCD:1234:0003::/64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2800:ABCD:1234:3::1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2800:ABCD:1234:0004::/64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2800:ABCD:1234:4::1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2800:ABCD:1234:0005::/64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2800:ABCD:1234:5::1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2800:ABCD:1234:0006::/64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2800:ABCD:1234:6::1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 R1↔R2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2800:ABCD:1234:0007::/64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0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347472" y="4187952"/>
            <a:ext cx="8449056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8"/>
          <p:cNvSpPr/>
          <p:nvPr/>
        </p:nvSpPr>
        <p:spPr>
          <a:xfrm>
            <a:off x="457200" y="42062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DUAL-STACK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2194560" y="4224528"/>
            <a:ext cx="1261872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Compatibilidad con dispositivos IPv4 e IPv6</a:t>
            </a:r>
            <a:endParaRPr lang="en-US" sz="750" dirty="0"/>
          </a:p>
        </p:txBody>
      </p:sp>
      <p:sp>
        <p:nvSpPr>
          <p:cNvPr id="15" name="Shape 10"/>
          <p:cNvSpPr/>
          <p:nvPr/>
        </p:nvSpPr>
        <p:spPr>
          <a:xfrm>
            <a:off x="3429000" y="4297680"/>
            <a:ext cx="0" cy="438912"/>
          </a:xfrm>
          <a:prstGeom prst="line">
            <a:avLst/>
          </a:prstGeom>
          <a:noFill/>
          <a:ln w="635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1"/>
          <p:cNvSpPr/>
          <p:nvPr/>
        </p:nvSpPr>
        <p:spPr>
          <a:xfrm>
            <a:off x="3520440" y="4224528"/>
            <a:ext cx="1261872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Migración gradual sin interrupciones</a:t>
            </a:r>
            <a:endParaRPr lang="en-US" sz="750" dirty="0"/>
          </a:p>
        </p:txBody>
      </p:sp>
      <p:sp>
        <p:nvSpPr>
          <p:cNvPr id="17" name="Shape 12"/>
          <p:cNvSpPr/>
          <p:nvPr/>
        </p:nvSpPr>
        <p:spPr>
          <a:xfrm>
            <a:off x="4754880" y="4297680"/>
            <a:ext cx="0" cy="438912"/>
          </a:xfrm>
          <a:prstGeom prst="line">
            <a:avLst/>
          </a:prstGeom>
          <a:noFill/>
          <a:ln w="635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3"/>
          <p:cNvSpPr/>
          <p:nvPr/>
        </p:nvSpPr>
        <p:spPr>
          <a:xfrm>
            <a:off x="4846320" y="4224528"/>
            <a:ext cx="1261872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2¹²⁸ direcciones disponibles en IPv6</a:t>
            </a:r>
            <a:endParaRPr lang="en-US" sz="750" dirty="0"/>
          </a:p>
        </p:txBody>
      </p:sp>
      <p:sp>
        <p:nvSpPr>
          <p:cNvPr id="19" name="Shape 14"/>
          <p:cNvSpPr/>
          <p:nvPr/>
        </p:nvSpPr>
        <p:spPr>
          <a:xfrm>
            <a:off x="6080760" y="4297680"/>
            <a:ext cx="0" cy="438912"/>
          </a:xfrm>
          <a:prstGeom prst="line">
            <a:avLst/>
          </a:prstGeom>
          <a:noFill/>
          <a:ln w="635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5"/>
          <p:cNvSpPr/>
          <p:nvPr/>
        </p:nvSpPr>
        <p:spPr>
          <a:xfrm>
            <a:off x="6172200" y="4224528"/>
            <a:ext cx="1261872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Autoconfiguración SLAAC (RFC 4862)</a:t>
            </a:r>
            <a:endParaRPr lang="en-US" sz="750" dirty="0"/>
          </a:p>
        </p:txBody>
      </p:sp>
      <p:sp>
        <p:nvSpPr>
          <p:cNvPr id="21" name="Shape 16"/>
          <p:cNvSpPr/>
          <p:nvPr/>
        </p:nvSpPr>
        <p:spPr>
          <a:xfrm>
            <a:off x="7406640" y="4297680"/>
            <a:ext cx="0" cy="438912"/>
          </a:xfrm>
          <a:prstGeom prst="line">
            <a:avLst/>
          </a:prstGeom>
          <a:noFill/>
          <a:ln w="635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17"/>
          <p:cNvSpPr/>
          <p:nvPr/>
        </p:nvSpPr>
        <p:spPr>
          <a:xfrm>
            <a:off x="7498080" y="4224528"/>
            <a:ext cx="1261872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Sin NAT — conectividad extremo a extremo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>
              <a:alpha val="95000"/>
            </a:srgbClr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1"/>
          <p:cNvSpPr/>
          <p:nvPr/>
        </p:nvSpPr>
        <p:spPr>
          <a:xfrm>
            <a:off x="347472" y="411480"/>
            <a:ext cx="292608" cy="292608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2"/>
          <p:cNvSpPr/>
          <p:nvPr/>
        </p:nvSpPr>
        <p:spPr>
          <a:xfrm>
            <a:off x="347472" y="411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13232" y="3840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ROUTERS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13232" y="5943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RIPv2 (IPv4)  ·  RIPng (IPv6)  ·  Dual-Stack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74320" y="868680"/>
            <a:ext cx="2880360" cy="3950208"/>
          </a:xfrm>
          <a:prstGeom prst="rect">
            <a:avLst/>
          </a:prstGeom>
          <a:solidFill>
            <a:srgbClr val="1E3A5F"/>
          </a:solidFill>
          <a:ln w="19050">
            <a:solidFill>
              <a:srgbClr val="00A89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6"/>
          <p:cNvSpPr/>
          <p:nvPr/>
        </p:nvSpPr>
        <p:spPr>
          <a:xfrm>
            <a:off x="274320" y="868680"/>
            <a:ext cx="2880360" cy="256032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320040" y="86868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  R1  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47472" y="1161288"/>
            <a:ext cx="2724912" cy="35844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720" dirty="0">
                <a:solidFill>
                  <a:srgbClr val="7EC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Seguridad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hostname R1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 secret Cisco1234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ipv6 unicast-routing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dirty="0">
                <a:solidFill>
                  <a:srgbClr val="7EC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Interfaces IPv4 + IPv6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G0/0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 address 192.150.128.1 255.255.254.0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ipv6 address 2800:ABCD:1234:1::1/64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 shutdown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G0/0/0  ! WAN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 address 192.150.140.1 255.255.254.0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ipv6 address 2800:ABCD:1234:7::1/64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 shutdown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dirty="0">
                <a:solidFill>
                  <a:srgbClr val="7EC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RIP versión 2 (IPv4)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 rip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version 2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 auto-summary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network 192.150.128.0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network 192.150.130.0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network 192.150.132.0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network 192.150.140.0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dirty="0">
                <a:solidFill>
                  <a:srgbClr val="7EC8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RIPng (IPv6)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G0/0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ipv6 rip RIPng-R1 enable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G0/0/0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ipv6 rip RIPng-R1 enable</a:t>
            </a:r>
            <a:endParaRPr lang="en-US" sz="720" dirty="0"/>
          </a:p>
        </p:txBody>
      </p:sp>
      <p:sp>
        <p:nvSpPr>
          <p:cNvPr id="12" name="Shape 9"/>
          <p:cNvSpPr/>
          <p:nvPr/>
        </p:nvSpPr>
        <p:spPr>
          <a:xfrm>
            <a:off x="3291840" y="868680"/>
            <a:ext cx="2880360" cy="3950208"/>
          </a:xfrm>
          <a:prstGeom prst="rect">
            <a:avLst/>
          </a:prstGeom>
          <a:solidFill>
            <a:srgbClr val="1E3A5F"/>
          </a:solidFill>
          <a:ln w="19050">
            <a:solidFill>
              <a:srgbClr val="E8601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0"/>
          <p:cNvSpPr/>
          <p:nvPr/>
        </p:nvSpPr>
        <p:spPr>
          <a:xfrm>
            <a:off x="3291840" y="868680"/>
            <a:ext cx="2880360" cy="256032"/>
          </a:xfrm>
          <a:prstGeom prst="rect">
            <a:avLst/>
          </a:prstGeom>
          <a:solidFill>
            <a:srgbClr val="C04E10"/>
          </a:solidFill>
          <a:ln w="12700">
            <a:solidFill>
              <a:srgbClr val="E8601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3337560" y="86868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  R2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364992" y="1161288"/>
            <a:ext cx="2724912" cy="35844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720" dirty="0">
                <a:solidFill>
                  <a:srgbClr val="F4A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Seguridad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hostname R2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 secret Cisco1234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ipv6 unicast-routing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dirty="0">
                <a:solidFill>
                  <a:srgbClr val="F4A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Interfaces IPv4 + IPv6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G0/0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 address 192.150.134.1 255.255.254.0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ipv6 address 2800:ABCD:1234:4::1/64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 shutdown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G0/0/0  ! WAN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 address 192.150.140.2 255.255.254.0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ipv6 address 2800:ABCD:1234:7::2/64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 shutdown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dirty="0">
                <a:solidFill>
                  <a:srgbClr val="F4A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RIP versión 2 (IPv4)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 rip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version 2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 auto-summary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network 192.150.134.0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network 192.150.136.0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network 192.150.138.0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network 192.150.140.0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dirty="0">
                <a:solidFill>
                  <a:srgbClr val="F4A2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RIPng (IPv6)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G0/0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ipv6 rip RIPng-R2 enable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G0/0/0</a:t>
            </a:r>
            <a:endParaRPr lang="en-US" sz="72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720" dirty="0">
                <a:solidFill>
                  <a:srgbClr val="A8D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ipv6 rip RIPng-R2 enable</a:t>
            </a:r>
            <a:endParaRPr lang="en-US" sz="720" dirty="0"/>
          </a:p>
        </p:txBody>
      </p:sp>
      <p:sp>
        <p:nvSpPr>
          <p:cNvPr id="16" name="Shape 13"/>
          <p:cNvSpPr/>
          <p:nvPr/>
        </p:nvSpPr>
        <p:spPr>
          <a:xfrm>
            <a:off x="6309360" y="868680"/>
            <a:ext cx="2487168" cy="3950208"/>
          </a:xfrm>
          <a:prstGeom prst="rect">
            <a:avLst/>
          </a:prstGeom>
          <a:solidFill>
            <a:srgbClr val="0D1F35"/>
          </a:solidFill>
          <a:ln w="19050">
            <a:solidFill>
              <a:srgbClr val="2A64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4"/>
          <p:cNvSpPr/>
          <p:nvPr/>
        </p:nvSpPr>
        <p:spPr>
          <a:xfrm>
            <a:off x="6309360" y="868680"/>
            <a:ext cx="2487168" cy="256032"/>
          </a:xfrm>
          <a:prstGeom prst="rect">
            <a:avLst/>
          </a:prstGeom>
          <a:solidFill>
            <a:srgbClr val="2A6496"/>
          </a:solidFill>
          <a:ln w="12700">
            <a:solidFill>
              <a:srgbClr val="2A649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5"/>
          <p:cNvSpPr/>
          <p:nvPr/>
        </p:nvSpPr>
        <p:spPr>
          <a:xfrm>
            <a:off x="6327648" y="86868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382512" y="1207008"/>
            <a:ext cx="2322576" cy="640080"/>
          </a:xfrm>
          <a:prstGeom prst="rect">
            <a:avLst/>
          </a:prstGeom>
          <a:solidFill>
            <a:srgbClr val="1E3A5F"/>
          </a:solidFill>
          <a:ln w="635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7"/>
          <p:cNvSpPr/>
          <p:nvPr/>
        </p:nvSpPr>
        <p:spPr>
          <a:xfrm>
            <a:off x="6419088" y="1225296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A8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ip route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419088" y="1453896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RIP marcadas con R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[120/1] via 192.150.140.x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6382512" y="1911096"/>
            <a:ext cx="2322576" cy="640080"/>
          </a:xfrm>
          <a:prstGeom prst="rect">
            <a:avLst/>
          </a:prstGeom>
          <a:solidFill>
            <a:srgbClr val="1E3A5F"/>
          </a:solidFill>
          <a:ln w="635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0"/>
          <p:cNvSpPr/>
          <p:nvPr/>
        </p:nvSpPr>
        <p:spPr>
          <a:xfrm>
            <a:off x="6419088" y="1929384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A8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ipv6 route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419088" y="2157984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RIPng marcadas con R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[120/2] via FE80::x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6382512" y="2615184"/>
            <a:ext cx="2322576" cy="640080"/>
          </a:xfrm>
          <a:prstGeom prst="rect">
            <a:avLst/>
          </a:prstGeom>
          <a:solidFill>
            <a:srgbClr val="1E3A5F"/>
          </a:solidFill>
          <a:ln w="635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3"/>
          <p:cNvSpPr/>
          <p:nvPr/>
        </p:nvSpPr>
        <p:spPr>
          <a:xfrm>
            <a:off x="6419088" y="2633472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A8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ip rip database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419088" y="286207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RIP con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redes aprendidas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6382512" y="3319272"/>
            <a:ext cx="2322576" cy="640080"/>
          </a:xfrm>
          <a:prstGeom prst="rect">
            <a:avLst/>
          </a:prstGeom>
          <a:solidFill>
            <a:srgbClr val="1E3A5F"/>
          </a:solidFill>
          <a:ln w="635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6"/>
          <p:cNvSpPr/>
          <p:nvPr/>
        </p:nvSpPr>
        <p:spPr>
          <a:xfrm>
            <a:off x="6419088" y="3337560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A8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192.150.134.4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419088" y="356616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inter-LAN IPv4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TTL=126 (2 saltos)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6382512" y="4023360"/>
            <a:ext cx="2322576" cy="640080"/>
          </a:xfrm>
          <a:prstGeom prst="rect">
            <a:avLst/>
          </a:prstGeom>
          <a:solidFill>
            <a:srgbClr val="1E3A5F"/>
          </a:solidFill>
          <a:ln w="635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29"/>
          <p:cNvSpPr/>
          <p:nvPr/>
        </p:nvSpPr>
        <p:spPr>
          <a:xfrm>
            <a:off x="6419088" y="4041648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A8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2800:...:4::4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419088" y="427024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inter-LAN IPv6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exitosa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1920" y="-75438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7472" y="475488"/>
            <a:ext cx="292608" cy="292608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347472" y="475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" y="47548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DE RED Y PRUEBAS DE CONECTIVIDAD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47472" y="886968"/>
            <a:ext cx="161848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347472" y="886968"/>
            <a:ext cx="1618488" cy="32004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347472" y="886968"/>
            <a:ext cx="161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DHCP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93192" y="1225296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67/68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93192" y="1408176"/>
            <a:ext cx="1527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Servidor: 192.150.128.3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93192" y="1572768"/>
            <a:ext cx="1527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automática de IP a todos los hosts de cada LAN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057400" y="886968"/>
            <a:ext cx="161848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0"/>
          <p:cNvSpPr/>
          <p:nvPr/>
        </p:nvSpPr>
        <p:spPr>
          <a:xfrm>
            <a:off x="2057400" y="886968"/>
            <a:ext cx="1618488" cy="320040"/>
          </a:xfrm>
          <a:prstGeom prst="rect">
            <a:avLst/>
          </a:prstGeom>
          <a:solidFill>
            <a:srgbClr val="2A6496"/>
          </a:solidFill>
          <a:ln w="12700">
            <a:solidFill>
              <a:srgbClr val="2A649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2057400" y="886968"/>
            <a:ext cx="161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DNS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103120" y="1225296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UDP/TCP 53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103120" y="1408176"/>
            <a:ext cx="1527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Servidor: 192.150.128.4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2103120" y="1572768"/>
            <a:ext cx="1527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 nombres internos — www.empresa.local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767328" y="886968"/>
            <a:ext cx="161848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6"/>
          <p:cNvSpPr/>
          <p:nvPr/>
        </p:nvSpPr>
        <p:spPr>
          <a:xfrm>
            <a:off x="3767328" y="886968"/>
            <a:ext cx="1618488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7"/>
          <p:cNvSpPr/>
          <p:nvPr/>
        </p:nvSpPr>
        <p:spPr>
          <a:xfrm>
            <a:off x="3767328" y="886968"/>
            <a:ext cx="161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HTTP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813048" y="1225296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80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813048" y="1408176"/>
            <a:ext cx="1527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Servidor: 192.150.128.5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3813048" y="1572768"/>
            <a:ext cx="1527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web intranet — accesible desde todas las LANs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477256" y="886968"/>
            <a:ext cx="161848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2"/>
          <p:cNvSpPr/>
          <p:nvPr/>
        </p:nvSpPr>
        <p:spPr>
          <a:xfrm>
            <a:off x="5477256" y="886968"/>
            <a:ext cx="1618488" cy="320040"/>
          </a:xfrm>
          <a:prstGeom prst="rect">
            <a:avLst/>
          </a:prstGeom>
          <a:solidFill>
            <a:srgbClr val="5A7A3A"/>
          </a:solidFill>
          <a:ln w="12700">
            <a:solidFill>
              <a:srgbClr val="5A7A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3"/>
          <p:cNvSpPr/>
          <p:nvPr/>
        </p:nvSpPr>
        <p:spPr>
          <a:xfrm>
            <a:off x="5477256" y="886968"/>
            <a:ext cx="161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FTP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522976" y="1225296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21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522976" y="1408176"/>
            <a:ext cx="1527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Servidor: 192.150.128.6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5522976" y="1572768"/>
            <a:ext cx="1527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de archivos institucional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7187184" y="886968"/>
            <a:ext cx="1618488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8"/>
          <p:cNvSpPr/>
          <p:nvPr/>
        </p:nvSpPr>
        <p:spPr>
          <a:xfrm>
            <a:off x="7187184" y="886968"/>
            <a:ext cx="1618488" cy="320040"/>
          </a:xfrm>
          <a:prstGeom prst="rect">
            <a:avLst/>
          </a:prstGeom>
          <a:solidFill>
            <a:srgbClr val="8B3A62"/>
          </a:solidFill>
          <a:ln w="12700">
            <a:solidFill>
              <a:srgbClr val="8B3A6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29"/>
          <p:cNvSpPr/>
          <p:nvPr/>
        </p:nvSpPr>
        <p:spPr>
          <a:xfrm>
            <a:off x="7187184" y="886968"/>
            <a:ext cx="161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SMTP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7232904" y="1225296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25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232904" y="1408176"/>
            <a:ext cx="1527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Servidor: 192.150.128.7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232904" y="1572768"/>
            <a:ext cx="15270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electrónico saliente — mail.empresa.local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47472" y="2496312"/>
            <a:ext cx="5029200" cy="2304288"/>
          </a:xfrm>
          <a:prstGeom prst="rect">
            <a:avLst/>
          </a:prstGeom>
          <a:solidFill>
            <a:srgbClr val="1E3A5F"/>
          </a:solidFill>
          <a:ln w="15240">
            <a:solidFill>
              <a:srgbClr val="00A89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7" name="Shape 34"/>
          <p:cNvSpPr/>
          <p:nvPr/>
        </p:nvSpPr>
        <p:spPr>
          <a:xfrm>
            <a:off x="347472" y="2496312"/>
            <a:ext cx="5029200" cy="27432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5"/>
          <p:cNvSpPr/>
          <p:nvPr/>
        </p:nvSpPr>
        <p:spPr>
          <a:xfrm>
            <a:off x="384048" y="2496312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PRUEBAS DE CONECTIVIDAD — RESULTADOS ESPERADOS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438912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A8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PC0&gt; ping 192.150.134.4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274320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... TTL=126 — ✓ Inter-LAN IPv4 (Soporte TIC → QA)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438912" y="3172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A8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PC0&gt; ping 2800:ABCD:1234:4::4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2743200" y="3172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... TTL=126 — ✓ Inter-LAN IPv6 exitoso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438912" y="35112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A8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PC0&gt; tracert 192.150.134.4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2743200" y="35112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1→R1  2→R2  3→PC9  — ✓ 3 saltos verificados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438912" y="38496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A8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PC0&gt; ping www.empresa.local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2743200" y="38496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192.150.128.4 — ✓ DNS + HTTP funcionan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438912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A8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R1# show ip route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2743200" y="4187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192.150.134.0/23 [120/1] via 140.2 — ✓ RIPv2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438912" y="4526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A8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R1# show ipv6 route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2743200" y="452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2800:ABCD:1234:4::/64 [120/2] — ✓ RIPng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5477256" y="2496312"/>
            <a:ext cx="3328416" cy="2304288"/>
          </a:xfrm>
          <a:prstGeom prst="rect">
            <a:avLst/>
          </a:prstGeom>
          <a:solidFill>
            <a:srgbClr val="F0F7FF"/>
          </a:solidFill>
          <a:ln w="12700">
            <a:solidFill>
              <a:srgbClr val="00A89D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pic>
        <p:nvPicPr>
          <p:cNvPr id="53" name="Imagen 52">
            <a:extLst>
              <a:ext uri="{FF2B5EF4-FFF2-40B4-BE49-F238E27FC236}">
                <a16:creationId xmlns:a16="http://schemas.microsoft.com/office/drawing/2014/main" id="{4B288B32-B1AE-144D-5699-A7747375D1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1467" y="2668683"/>
            <a:ext cx="2065378" cy="908589"/>
          </a:xfrm>
          <a:prstGeom prst="rect">
            <a:avLst/>
          </a:prstGeom>
        </p:spPr>
      </p:pic>
      <p:sp>
        <p:nvSpPr>
          <p:cNvPr id="55" name="CuadroTexto 54">
            <a:extLst>
              <a:ext uri="{FF2B5EF4-FFF2-40B4-BE49-F238E27FC236}">
                <a16:creationId xmlns:a16="http://schemas.microsoft.com/office/drawing/2014/main" id="{E1379CC8-2D4F-D2C4-4FEF-329D736384A1}"/>
              </a:ext>
            </a:extLst>
          </p:cNvPr>
          <p:cNvSpPr txBox="1"/>
          <p:nvPr/>
        </p:nvSpPr>
        <p:spPr>
          <a:xfrm>
            <a:off x="5477256" y="2461704"/>
            <a:ext cx="248107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</a:t>
            </a:r>
            <a:r>
              <a:rPr lang="en-US" sz="1050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exitoso</a:t>
            </a: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PC0 → PC9 (IPv4)</a:t>
            </a:r>
            <a:endParaRPr lang="es-CO" sz="1050" dirty="0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B025E306-FCA7-4121-F043-ED8FD8AE9CE9}"/>
              </a:ext>
            </a:extLst>
          </p:cNvPr>
          <p:cNvSpPr txBox="1"/>
          <p:nvPr/>
        </p:nvSpPr>
        <p:spPr>
          <a:xfrm>
            <a:off x="5477256" y="3531700"/>
            <a:ext cx="465734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</a:t>
            </a:r>
            <a:r>
              <a:rPr lang="en-US" sz="1050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exitoso</a:t>
            </a:r>
            <a:r>
              <a:rPr lang="en-US" sz="10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PC0 → PC9 (IPv6)</a:t>
            </a:r>
            <a:endParaRPr lang="es-CO" sz="1050" dirty="0"/>
          </a:p>
        </p:txBody>
      </p:sp>
      <p:pic>
        <p:nvPicPr>
          <p:cNvPr id="58" name="Imagen 57">
            <a:extLst>
              <a:ext uri="{FF2B5EF4-FFF2-40B4-BE49-F238E27FC236}">
                <a16:creationId xmlns:a16="http://schemas.microsoft.com/office/drawing/2014/main" id="{CE879696-886F-5AB2-E682-9CEFA208F9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1467" y="3738953"/>
            <a:ext cx="2323684" cy="9742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>
              <a:alpha val="92000"/>
            </a:srgbClr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1"/>
          <p:cNvSpPr/>
          <p:nvPr/>
        </p:nvSpPr>
        <p:spPr>
          <a:xfrm>
            <a:off x="347472" y="411480"/>
            <a:ext cx="292608" cy="292608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2"/>
          <p:cNvSpPr/>
          <p:nvPr/>
        </p:nvSpPr>
        <p:spPr>
          <a:xfrm>
            <a:off x="347472" y="411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13232" y="41148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APRENDIZAJES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74320" y="850392"/>
            <a:ext cx="2816352" cy="1901952"/>
          </a:xfrm>
          <a:prstGeom prst="rect">
            <a:avLst/>
          </a:prstGeom>
          <a:solidFill>
            <a:srgbClr val="1E3A5F"/>
          </a:solidFill>
          <a:ln w="19050">
            <a:solidFill>
              <a:srgbClr val="00A89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5"/>
          <p:cNvSpPr/>
          <p:nvPr/>
        </p:nvSpPr>
        <p:spPr>
          <a:xfrm>
            <a:off x="274320" y="850392"/>
            <a:ext cx="2816352" cy="310896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274320" y="850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3504" y="85039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Dual-Stack Exitosa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47472" y="1197864"/>
            <a:ext cx="2651760" cy="1481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implementó correctamente IPv4 e IPv6 en simultáneo sobre todos los routers, switches y hosts, demostrando la viabilidad del Dual-Stack como estrategia de migración.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3218688" y="850392"/>
            <a:ext cx="2816352" cy="1901952"/>
          </a:xfrm>
          <a:prstGeom prst="rect">
            <a:avLst/>
          </a:prstGeom>
          <a:solidFill>
            <a:srgbClr val="1E3A5F"/>
          </a:solidFill>
          <a:ln w="19050">
            <a:solidFill>
              <a:srgbClr val="2A64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0"/>
          <p:cNvSpPr/>
          <p:nvPr/>
        </p:nvSpPr>
        <p:spPr>
          <a:xfrm>
            <a:off x="3218688" y="850392"/>
            <a:ext cx="2816352" cy="310896"/>
          </a:xfrm>
          <a:prstGeom prst="rect">
            <a:avLst/>
          </a:prstGeom>
          <a:solidFill>
            <a:srgbClr val="2A6496"/>
          </a:solidFill>
          <a:ln w="12700">
            <a:solidFill>
              <a:srgbClr val="2A649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3218688" y="850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547872" y="85039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Subneteo Preciso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291840" y="1197864"/>
            <a:ext cx="2651760" cy="1481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bloque 192.150.128.0/20 fue dividido en 7 subredes /23 (n=3 bits, #guía=2), cada una con 510 hosts útiles. El bloque IPv6 /48 generó 65.536 subredes /64 potenciales.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6163056" y="850392"/>
            <a:ext cx="2816352" cy="1901952"/>
          </a:xfrm>
          <a:prstGeom prst="rect">
            <a:avLst/>
          </a:prstGeom>
          <a:solidFill>
            <a:srgbClr val="1E3A5F"/>
          </a:solidFill>
          <a:ln w="19050">
            <a:solidFill>
              <a:srgbClr val="E8601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5"/>
          <p:cNvSpPr/>
          <p:nvPr/>
        </p:nvSpPr>
        <p:spPr>
          <a:xfrm>
            <a:off x="6163056" y="850392"/>
            <a:ext cx="2816352" cy="310896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6"/>
          <p:cNvSpPr/>
          <p:nvPr/>
        </p:nvSpPr>
        <p:spPr>
          <a:xfrm>
            <a:off x="6163056" y="850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92240" y="850392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RIPv2 y RIPng Convergentes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236208" y="1197864"/>
            <a:ext cx="2651760" cy="1481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protocolos convergieron en menos de 30 s. Las tablas de enrutamiento confirmaron rutas R hacia las 6 redes remotas. RIPng opera por interfaz, a diferencia de RIPv2.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274320" y="2935224"/>
            <a:ext cx="2816352" cy="1901952"/>
          </a:xfrm>
          <a:prstGeom prst="rect">
            <a:avLst/>
          </a:prstGeom>
          <a:solidFill>
            <a:srgbClr val="1E3A5F"/>
          </a:solidFill>
          <a:ln w="19050">
            <a:solidFill>
              <a:srgbClr val="5A7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0"/>
          <p:cNvSpPr/>
          <p:nvPr/>
        </p:nvSpPr>
        <p:spPr>
          <a:xfrm>
            <a:off x="274320" y="2935224"/>
            <a:ext cx="2816352" cy="310896"/>
          </a:xfrm>
          <a:prstGeom prst="rect">
            <a:avLst/>
          </a:prstGeom>
          <a:solidFill>
            <a:srgbClr val="5A7A3A"/>
          </a:solidFill>
          <a:ln w="12700">
            <a:solidFill>
              <a:srgbClr val="5A7A3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1"/>
          <p:cNvSpPr/>
          <p:nvPr/>
        </p:nvSpPr>
        <p:spPr>
          <a:xfrm>
            <a:off x="274320" y="2935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03504" y="2935224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Operativos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47472" y="3282696"/>
            <a:ext cx="2651760" cy="1481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asignó IPs automáticamente en todos los departamentos. DNS resolvió nombres internos. HTTP, FTP y SMTP respondieron correctamente desde cualquier LAN.</a:t>
            </a:r>
            <a:endParaRPr lang="en-US" sz="880" dirty="0"/>
          </a:p>
        </p:txBody>
      </p:sp>
      <p:sp>
        <p:nvSpPr>
          <p:cNvPr id="27" name="Shape 24"/>
          <p:cNvSpPr/>
          <p:nvPr/>
        </p:nvSpPr>
        <p:spPr>
          <a:xfrm>
            <a:off x="3218688" y="2935224"/>
            <a:ext cx="2816352" cy="1901952"/>
          </a:xfrm>
          <a:prstGeom prst="rect">
            <a:avLst/>
          </a:prstGeom>
          <a:solidFill>
            <a:srgbClr val="1E3A5F"/>
          </a:solidFill>
          <a:ln w="19050">
            <a:solidFill>
              <a:srgbClr val="8B3A6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8" name="Shape 25"/>
          <p:cNvSpPr/>
          <p:nvPr/>
        </p:nvSpPr>
        <p:spPr>
          <a:xfrm>
            <a:off x="3218688" y="2935224"/>
            <a:ext cx="2816352" cy="310896"/>
          </a:xfrm>
          <a:prstGeom prst="rect">
            <a:avLst/>
          </a:prstGeom>
          <a:solidFill>
            <a:srgbClr val="8B3A62"/>
          </a:solidFill>
          <a:ln w="12700">
            <a:solidFill>
              <a:srgbClr val="8B3A6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6"/>
          <p:cNvSpPr/>
          <p:nvPr/>
        </p:nvSpPr>
        <p:spPr>
          <a:xfrm>
            <a:off x="3218688" y="2935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547872" y="2935224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Conectividad Inter-LAN Verificada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3291840" y="3282696"/>
            <a:ext cx="2651760" cy="1481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con 0% pérdida entre PC de diferentes routers. Tracert confirmó la ruta de 3 saltos. IPv6 funcionó en paralelo con el mismo resultado de conectividad.</a:t>
            </a:r>
            <a:endParaRPr lang="en-US" sz="880" dirty="0"/>
          </a:p>
        </p:txBody>
      </p:sp>
      <p:sp>
        <p:nvSpPr>
          <p:cNvPr id="32" name="Shape 29"/>
          <p:cNvSpPr/>
          <p:nvPr/>
        </p:nvSpPr>
        <p:spPr>
          <a:xfrm>
            <a:off x="6163056" y="2935224"/>
            <a:ext cx="2816352" cy="1901952"/>
          </a:xfrm>
          <a:prstGeom prst="rect">
            <a:avLst/>
          </a:prstGeom>
          <a:solidFill>
            <a:srgbClr val="1E3A5F"/>
          </a:solidFill>
          <a:ln w="19050">
            <a:solidFill>
              <a:srgbClr val="556B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3" name="Shape 30"/>
          <p:cNvSpPr/>
          <p:nvPr/>
        </p:nvSpPr>
        <p:spPr>
          <a:xfrm>
            <a:off x="6163056" y="2935224"/>
            <a:ext cx="2816352" cy="310896"/>
          </a:xfrm>
          <a:prstGeom prst="rect">
            <a:avLst/>
          </a:prstGeom>
          <a:solidFill>
            <a:srgbClr val="556B8A"/>
          </a:solidFill>
          <a:ln w="12700">
            <a:solidFill>
              <a:srgbClr val="556B8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1"/>
          <p:cNvSpPr/>
          <p:nvPr/>
        </p:nvSpPr>
        <p:spPr>
          <a:xfrm>
            <a:off x="6163056" y="2935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492240" y="2935224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Básica Implementada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236208" y="3282696"/>
            <a:ext cx="2651760" cy="14813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cifradas, banner MOTD y desactivación de ip domain-lookup en R1 y R2. Base para implementar ACLs, SSH v2 y 802.1X en fases futuras.</a:t>
            </a:r>
            <a:endParaRPr lang="en-US" sz="880" dirty="0"/>
          </a:p>
        </p:txBody>
      </p:sp>
      <p:sp>
        <p:nvSpPr>
          <p:cNvPr id="37" name="Shape 34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Text 35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2A4A"/>
                </a:solidFill>
              </a:rPr>
              <a:t>Proyecto TechDelSur — Telemática I · CORHUILA 2026 · Ing. de Sistemas 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50208" y="0"/>
            <a:ext cx="5193792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1"/>
          <p:cNvSpPr/>
          <p:nvPr/>
        </p:nvSpPr>
        <p:spPr>
          <a:xfrm>
            <a:off x="347472" y="411480"/>
            <a:ext cx="292608" cy="292608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2"/>
          <p:cNvSpPr/>
          <p:nvPr/>
        </p:nvSpPr>
        <p:spPr>
          <a:xfrm>
            <a:off x="347472" y="411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74320" y="10058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BIBLIOGRÁFICAS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274320" y="2148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IEEE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53796" y="2481072"/>
            <a:ext cx="2560320" cy="2331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617220" y="2514600"/>
            <a:ext cx="256032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D"/>
                </a:solidFill>
              </a:rPr>
              <a:t>RFC  📡  CISCO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0A89D"/>
                </a:solidFill>
              </a:rPr>
              <a:t>DOCS  🌐  IEEE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0A89D"/>
                </a:solidFill>
              </a:rPr>
              <a:t>IETF  📚  IANA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114800" y="2743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114800" y="612648"/>
            <a:ext cx="4663440" cy="36576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4114800" y="713232"/>
            <a:ext cx="201168" cy="310896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4352544" y="71323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S. Deering, R. Hinden, Internet Protocol, Version 6 (IPv6) Specification, RFC 8200, IETF, Jul. 2017.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114800" y="1133856"/>
            <a:ext cx="201168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4352544" y="113385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E. Nordmark, R. Gilligan, Basic Transition Mechanisms for IPv6, RFC 4213, IETF, Oct. 2005.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114800" y="1554480"/>
            <a:ext cx="201168" cy="310896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4"/>
          <p:cNvSpPr/>
          <p:nvPr/>
        </p:nvSpPr>
        <p:spPr>
          <a:xfrm>
            <a:off x="4352544" y="155448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J. Postel, Internet Protocol, RFC 791, IETF, Sep. 1981.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114800" y="1975104"/>
            <a:ext cx="201168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6"/>
          <p:cNvSpPr/>
          <p:nvPr/>
        </p:nvSpPr>
        <p:spPr>
          <a:xfrm>
            <a:off x="4352544" y="197510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G. Malkin, RIP Version 2, RFC 2453, IETF, Nov. 1998.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114800" y="2395728"/>
            <a:ext cx="201168" cy="310896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8"/>
          <p:cNvSpPr/>
          <p:nvPr/>
        </p:nvSpPr>
        <p:spPr>
          <a:xfrm>
            <a:off x="4352544" y="239572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G. Malkin, R. Minnear, RIPng for IPv6, RFC 2080, IETF, Jan. 1997.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114800" y="2816352"/>
            <a:ext cx="201168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0"/>
          <p:cNvSpPr/>
          <p:nvPr/>
        </p:nvSpPr>
        <p:spPr>
          <a:xfrm>
            <a:off x="4352544" y="281635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R. Hinden, S. Deering, IP Version 6 Addressing Architecture, RFC 4291, IETF, 2006.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114800" y="3236976"/>
            <a:ext cx="201168" cy="310896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2"/>
          <p:cNvSpPr/>
          <p:nvPr/>
        </p:nvSpPr>
        <p:spPr>
          <a:xfrm>
            <a:off x="4352544" y="323697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R. Droms et al., Dynamic Host Configuration Protocol for IPv6, RFC 3315, IETF, Jul. 2003.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114800" y="3657600"/>
            <a:ext cx="201168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4"/>
          <p:cNvSpPr/>
          <p:nvPr/>
        </p:nvSpPr>
        <p:spPr>
          <a:xfrm>
            <a:off x="4352544" y="365760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Cisco Networking Academy, CCNA Routing &amp; Switching: Connecting Networks, Cisco Press, 2019.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114800" y="4078224"/>
            <a:ext cx="201168" cy="310896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6"/>
          <p:cNvSpPr/>
          <p:nvPr/>
        </p:nvSpPr>
        <p:spPr>
          <a:xfrm>
            <a:off x="4352544" y="407822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W. Stallings, Data and Computer Communications, 10th ed. Pearson, 2013.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114800" y="4498848"/>
            <a:ext cx="201168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8"/>
          <p:cNvSpPr/>
          <p:nvPr/>
        </p:nvSpPr>
        <p:spPr>
          <a:xfrm>
            <a:off x="4352544" y="449884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J. Klensin, Simple Mail Transfer Protocol, RFC 5321, IETF, Oct. 2008.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114800" y="4773168"/>
            <a:ext cx="466344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0"/>
          <p:cNvSpPr/>
          <p:nvPr/>
        </p:nvSpPr>
        <p:spPr>
          <a:xfrm>
            <a:off x="4114800" y="47731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A89D"/>
                </a:solidFill>
              </a:rPr>
              <a:t>¡Gracias!  — TechDelSur · Telemática I · CORHUILA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1947</Words>
  <Application>Microsoft Office PowerPoint</Application>
  <PresentationFormat>Presentación en pantalla (16:9)</PresentationFormat>
  <Paragraphs>345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Dual-Stack IPv4/IPv6 - CORHUILA 2026</dc:title>
  <dc:subject>PptxGenJS Presentation</dc:subject>
  <dc:creator>TechDelSur</dc:creator>
  <cp:lastModifiedBy>carlos mauricio leal medina</cp:lastModifiedBy>
  <cp:revision>1</cp:revision>
  <dcterms:created xsi:type="dcterms:W3CDTF">2026-05-19T05:28:28Z</dcterms:created>
  <dcterms:modified xsi:type="dcterms:W3CDTF">2026-05-19T05:43:26Z</dcterms:modified>
</cp:coreProperties>
</file>